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37744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5603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1945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27432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5486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29260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31089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28346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32004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12801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8229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1148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45720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8720" y="54864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53035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2743200"/>
            <a:ext cx="5029200" cy="5029200"/>
          </a:xfrm>
          <a:prstGeom prst="ellipse">
            <a:avLst/>
          </a:prstGeom>
          <a:solidFill>
            <a:srgbClr val="8B6BD9">
              <a:alpha val="20000"/>
            </a:srgbClr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3840480"/>
            <a:ext cx="2743200" cy="2743200"/>
          </a:xfrm>
          <a:prstGeom prst="ellipse">
            <a:avLst/>
          </a:prstGeom>
          <a:solidFill>
            <a:srgbClr val="B492FF">
              <a:alpha val="30000"/>
            </a:srgbClr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SYNTHESIS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</a:t>
            </a:r>
            <a:endParaRPr lang="en-US" sz="6400" dirty="0"/>
          </a:p>
        </p:txBody>
      </p:sp>
      <p:sp>
        <p:nvSpPr>
          <p:cNvPr id="45" name="Text 43"/>
          <p:cNvSpPr/>
          <p:nvPr/>
        </p:nvSpPr>
        <p:spPr>
          <a:xfrm>
            <a:off x="82296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Prioritized Changes</a:t>
            </a:r>
            <a:endParaRPr lang="en-US" sz="6400" dirty="0"/>
          </a:p>
        </p:txBody>
      </p:sp>
      <p:sp>
        <p:nvSpPr>
          <p:cNvPr id="46" name="Text 44"/>
          <p:cNvSpPr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10 participants  ·  April 2026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reflection app for showing up on hard days.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37744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5603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1945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27432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5486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WE TESTED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loop, end to end.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8640" y="1783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walked one tester through Becoming's full day — from first-time setup to recovering from a 3-day gap. Extra time was spent inside the AI Companion, the conversational MVP focus.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65960" y="4366260"/>
            <a:ext cx="365760" cy="0"/>
          </a:xfrm>
          <a:prstGeom prst="line">
            <a:avLst/>
          </a:prstGeom>
          <a:noFill/>
          <a:ln w="19050">
            <a:solidFill>
              <a:srgbClr val="8B6BD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3172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4366260"/>
            <a:ext cx="365760" cy="0"/>
          </a:xfrm>
          <a:prstGeom prst="line">
            <a:avLst/>
          </a:prstGeom>
          <a:noFill/>
          <a:ln w="19050">
            <a:solidFill>
              <a:srgbClr val="8B6BD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1480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4366260"/>
            <a:ext cx="365760" cy="0"/>
          </a:xfrm>
          <a:prstGeom prst="line">
            <a:avLst/>
          </a:prstGeom>
          <a:noFill/>
          <a:ln w="19050">
            <a:solidFill>
              <a:srgbClr val="8B6BD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9788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9788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4366260"/>
            <a:ext cx="365760" cy="0"/>
          </a:xfrm>
          <a:prstGeom prst="line">
            <a:avLst/>
          </a:prstGeom>
          <a:noFill/>
          <a:ln w="19050">
            <a:solidFill>
              <a:srgbClr val="8B6BD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68096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8096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98280" y="4366260"/>
            <a:ext cx="365760" cy="0"/>
          </a:xfrm>
          <a:prstGeom prst="line">
            <a:avLst/>
          </a:prstGeom>
          <a:noFill/>
          <a:ln w="19050">
            <a:solidFill>
              <a:srgbClr val="8B6BD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464040" y="3657600"/>
            <a:ext cx="1417320" cy="141732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6404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6404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Evening Reflection, You're Not Alone counter, and a hard-day recovery probe.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journalers — 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2441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/ counselling history — 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0" y="2734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Habit-app lapsers — 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Time-constrained users — 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0" y="3319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motion specialists — 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HEADLINE NUMBERS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is telling us.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2560320" cy="32004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286000"/>
            <a:ext cx="73152" cy="32004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open Becoming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hard day  (Q15)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promise lands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286000"/>
            <a:ext cx="2560320" cy="32004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286000"/>
            <a:ext cx="73152" cy="3200400"/>
          </a:xfrm>
          <a:prstGeom prst="rect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9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/ 7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52044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Companion: presence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advice  (Q13)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 is sticking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286000"/>
            <a:ext cx="2560320" cy="32004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2286000"/>
            <a:ext cx="73152" cy="320040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5D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 / 7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44652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“both labels valid”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(Q8)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Anyway / Not Today fails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89720" y="2286000"/>
            <a:ext cx="2560320" cy="32004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89720" y="2286000"/>
            <a:ext cx="73152" cy="32004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 / 7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937260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= better)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7260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contract holds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37744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5603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affinity clusters.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group into seven clusters. Four are about the AI Companion (the MVP focus). Three are about the surrounding moments — labels, scaffolds, motion.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944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beats reflection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74320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2743200"/>
            <a:ext cx="73152" cy="1417320"/>
          </a:xfrm>
          <a:prstGeom prst="rect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2944368"/>
            <a:ext cx="457200" cy="45720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4800" y="2944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context must surface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743200"/>
            <a:ext cx="73152" cy="141732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44368"/>
            <a:ext cx="457200" cy="457200"/>
          </a:xfrm>
          <a:prstGeom prst="ellipse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2944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Anyway / Not Today reads as judgment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98280" y="274320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98280" y="2743200"/>
            <a:ext cx="73152" cy="141732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2944368"/>
            <a:ext cx="457200" cy="457200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75520" y="2944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Crisis-language guardrail order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8116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43484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434840"/>
            <a:ext cx="73152" cy="141732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34440" y="46360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Reflection has no scaffold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" y="5440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37560" y="443484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337560" y="4434840"/>
            <a:ext cx="73152" cy="141732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0440" y="4636008"/>
            <a:ext cx="457200" cy="457200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04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114800" y="46360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Not Alone” counter framing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520440" y="5440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4434840"/>
            <a:ext cx="2606040" cy="141732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4434840"/>
            <a:ext cx="73152" cy="141732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4636008"/>
            <a:ext cx="457200" cy="457200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995160" y="46360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motion polish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400800" y="5440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THEME DEEP-DIVE  ·  AI COMPANION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 beats reflection.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Companion held silence or asked one question, trust rose. When it opened with reflective-listening boilerplate, two testers disengaged within two turns.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 ·  8 / 10 testers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moments → </a:t>
            </a:r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held, one question, the user named back once.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moments → </a:t>
            </a:r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sounds like you're feeling…” — read as a script.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4846320" cy="36576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103120"/>
            <a:ext cx="73152" cy="3657600"/>
          </a:xfrm>
          <a:prstGeom prst="rect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49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want it to mirror me. I want it to sit with me.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P5  ·  Translator, language-precise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2A2058"/>
          </a:solidFill>
          <a:ln w="12700">
            <a:solidFill>
              <a:srgbClr val="2A20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pPr indent="0" marL="0">
              <a:buNone/>
            </a:pPr>
            <a:r>
              <a:rPr lang="en-US" sz="13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rule locked: presence-first, no clinical mirroring, one question per turn.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THEME DEEP-DIVE  ·  DONE ANYWAY / NOT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read as judgment.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·  5 / 10 testers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lenses arrived at the same conclusion — the labels carry moral weight. The visual hierarchy of the buttons amplifies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28600" cy="22860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·  Translator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“'Anyway' carries a moral concession.”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228600" cy="22860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 ·  Graphic 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vs. ghost button = hierarchy of moral weight.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228600" cy="22860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 ·  Project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“'Not Today' calls me out. I just don't have bandwidth.”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4846320" cy="36576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Anyway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06840" y="2606040"/>
            <a:ext cx="1920240" cy="502920"/>
          </a:xfrm>
          <a:prstGeom prst="rect">
            <a:avLst/>
          </a:prstGeom>
          <a:solidFill>
            <a:srgbClr val="0E0B26"/>
          </a:solidFill>
          <a:ln w="12700">
            <a:solidFill>
              <a:srgbClr val="9C8F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4069080"/>
            <a:ext cx="1920240" cy="502920"/>
          </a:xfrm>
          <a:prstGeom prst="rect">
            <a:avLst/>
          </a:prstGeom>
          <a:solidFill>
            <a:srgbClr val="8B6BD9"/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showed up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006840" y="4069080"/>
            <a:ext cx="1920240" cy="502920"/>
          </a:xfrm>
          <a:prstGeom prst="rect">
            <a:avLst/>
          </a:prstGeom>
          <a:solidFill>
            <a:srgbClr val="B492FF">
              <a:alpha val="50000"/>
            </a:srgbClr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heavy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 animation either way. Equal moral weight. No streak loss.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2A2058"/>
          </a:solidFill>
          <a:ln w="12700">
            <a:solidFill>
              <a:srgbClr val="2A2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pPr indent="0" marL="0">
              <a:buNone/>
            </a:pPr>
            <a:r>
              <a:rPr lang="en-US" sz="13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labels. Equalise visual weight. Both options yield the same star.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THEME DEEP-DIVE  ·  SAFETY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Crisis-language guardrail — verified.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(UX student, deliberate stress test) sent a hard prompt to the Companion. The current build follows the correct order. Lock 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" y="2834640"/>
            <a:ext cx="2148840" cy="18288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" y="2834640"/>
            <a:ext cx="73152" cy="18288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hear you.”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20340" y="2834640"/>
            <a:ext cx="2148840" cy="18288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20340" y="2834640"/>
            <a:ext cx="73152" cy="18288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32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9032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03220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an AI, not a therapist.”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6340" y="2834640"/>
            <a:ext cx="2148840" cy="18288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06340" y="2834640"/>
            <a:ext cx="73152" cy="18288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92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892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89220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you safe right now?”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92340" y="2834640"/>
            <a:ext cx="2148840" cy="18288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92340" y="2834640"/>
            <a:ext cx="73152" cy="18288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52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52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75220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line · Text · Therapist directory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78340" y="2834640"/>
            <a:ext cx="2148840" cy="18288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78340" y="2834640"/>
            <a:ext cx="73152" cy="182880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12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7612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61220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talking, or rest?”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“Note: do not change that order.”  — P9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2A2058"/>
          </a:solidFill>
          <a:ln w="12700">
            <a:solidFill>
              <a:srgbClr val="2A20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pPr indent="0" marL="0">
              <a:buNone/>
            </a:pPr>
            <a:r>
              <a:rPr lang="en-US" sz="13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order in the tone doc. Round 2: independent clinical reviewer probes 6 standardized prompts.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THEME DEEP-DIVE  ·  EVENING REFLECTION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empty field is not an invitation.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·  7 / 10 testers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opened Evening Reflection, saw a blank field, and asked “what am I supposed to write?” The Companion-to-Reflection handoff is the moment that works — extend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74320" cy="274320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optional prompt seeds (one line each)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Evening Reflection counts as “reflected” — words are optional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274320" cy="274320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offers “Want to keep this?” after a meaningful exchange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4846320" cy="36576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THAT WORKS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“Around lunch I had soup and called my sister.”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→ “Soup and a sister. Want me to keep that?”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“Keep it.”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→ “Saving 'soup and a sister' to your Evening Reflection.”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P1, the moment three other testers wished they'd had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2A2058"/>
          </a:solidFill>
          <a:ln w="12700">
            <a:solidFill>
              <a:srgbClr val="2A20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pPr indent="0" marL="0">
              <a:buNone/>
            </a:pPr>
            <a:r>
              <a:rPr lang="en-US" sz="13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Companion→Reflection handoff CTA. Add prompt seeds. Opening counts.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PRIORITIZED CHANGE 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ships, in what order.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7180" y="1874520"/>
            <a:ext cx="3703320" cy="4297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7180" y="1874520"/>
            <a:ext cx="73152" cy="429768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" y="1874520"/>
            <a:ext cx="3703320" cy="77724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·  MUST SHIP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— before any further testing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" y="27889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Crisis-language guardrail order (locked)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Presence-first system rule (no advice in turn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onboarding context into Companion system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clinical-mimicry phrasing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labels: I showed up / Today is heavy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hallucinated memory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9100" y="1874520"/>
            <a:ext cx="3703320" cy="4297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29100" y="1874520"/>
            <a:ext cx="73152" cy="429768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9100" y="1874520"/>
            <a:ext cx="3703320" cy="77724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770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ROUND 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5770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re-test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57700" y="27889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Reflection: 3 prompt seeds + opening 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→ Reflection handoff CTA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Not Alone” counter: mood-aware softening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Tone-stability rule (soften under caps / expletives)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 card during onboarding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 response-button visual weight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61020" y="1874520"/>
            <a:ext cx="3703320" cy="4297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61020" y="1874520"/>
            <a:ext cx="73152" cy="429768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1020" y="1874520"/>
            <a:ext cx="3703320" cy="777240"/>
          </a:xfrm>
          <a:prstGeom prst="rect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962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POLISH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8962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Round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89620" y="27889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breath haptics (in vs. out)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breath ring top by ~200ms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breath out-curve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missed days at low intensity (never empty)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contrast on dim stars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reply: “Just sit with me”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8229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6400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0" y="11887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12801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7373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21945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91440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37744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5603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1945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27432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0" y="5486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371600"/>
            <a:ext cx="5029200" cy="5029200"/>
          </a:xfrm>
          <a:prstGeom prst="ellipse">
            <a:avLst/>
          </a:prstGeom>
          <a:solidFill>
            <a:srgbClr val="8B6BD9">
              <a:alpha val="20000"/>
            </a:srgbClr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WHAT'S 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2  ·  validation.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P0 fixes hold under stress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164592" cy="164592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renamed labels read as equal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154680"/>
            <a:ext cx="164592" cy="164592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Companion ↔ Evening Reflection handoff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164592" cy="164592"/>
          </a:xfrm>
          <a:prstGeom prst="ellipse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clinical reviewer probes guardrail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2103120"/>
            <a:ext cx="4846320" cy="274320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103120"/>
            <a:ext cx="73152" cy="2743200"/>
          </a:xfrm>
          <a:prstGeom prst="rect">
            <a:avLst/>
          </a:prstGeom>
          <a:solidFill>
            <a:srgbClr val="B492FF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TARGETS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tone score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926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/ 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labels rated valid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92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 / 10 testers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Crisis-probe guardrail misses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926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494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Reflection completion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9264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5486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49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holds space for the user — not the other way around.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Round 1  ·  n = 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Becoming — Findings &amp; Prioritized Changes</dc:title>
  <dc:subject>PptxGenJS Presentation</dc:subject>
  <dc:creator>Becoming UX</dc:creator>
  <cp:lastModifiedBy>Becoming UX</cp:lastModifiedBy>
  <cp:revision>1</cp:revision>
  <dcterms:created xsi:type="dcterms:W3CDTF">2026-05-04T02:27:40Z</dcterms:created>
  <dcterms:modified xsi:type="dcterms:W3CDTF">2026-05-04T02:27:40Z</dcterms:modified>
</cp:coreProperties>
</file>