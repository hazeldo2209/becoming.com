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16459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972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21945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4688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2860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0" y="26517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247120" y="16459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95760" y="10972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21945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24688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0" y="22860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0" y="26517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2560320"/>
            <a:ext cx="5029200" cy="5029200"/>
          </a:xfrm>
          <a:prstGeom prst="ellipse">
            <a:avLst/>
          </a:prstGeom>
          <a:solidFill>
            <a:srgbClr val="8B6BD9">
              <a:alpha val="20000"/>
            </a:srgbClr>
          </a:solidFill>
          <a:ln w="12700">
            <a:solidFill>
              <a:srgbClr val="8B6B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0" y="3657600"/>
            <a:ext cx="2743200" cy="2743200"/>
          </a:xfrm>
          <a:prstGeom prst="ellipse">
            <a:avLst/>
          </a:prstGeom>
          <a:solidFill>
            <a:srgbClr val="B492FF">
              <a:alpha val="30000"/>
            </a:srgbClr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NOTES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User</a:t>
            </a:r>
            <a:endParaRPr lang="en-US" sz="6400" dirty="0"/>
          </a:p>
        </p:txBody>
      </p:sp>
      <p:sp>
        <p:nvSpPr>
          <p:cNvPr id="34" name="Text 32"/>
          <p:cNvSpPr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Testing.</a:t>
            </a:r>
            <a:endParaRPr lang="en-US" sz="6400" dirty="0"/>
          </a:p>
        </p:txBody>
      </p:sp>
      <p:sp>
        <p:nvSpPr>
          <p:cNvPr id="35" name="Text 33"/>
          <p:cNvSpPr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7 fixes  ·  5 screens  ·  3 critical · 3 moderate · 1 minor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5166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changed, where, and why.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16459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972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21945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4688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AT A GLANCE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shipped, by severity.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600200" y="2011680"/>
            <a:ext cx="2743200" cy="201168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00200" y="2011680"/>
            <a:ext cx="73152" cy="2011680"/>
          </a:xfrm>
          <a:prstGeom prst="rect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55D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17830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the core experience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011680"/>
            <a:ext cx="2743200" cy="201168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011680"/>
            <a:ext cx="73152" cy="2011680"/>
          </a:xfrm>
          <a:prstGeom prst="rect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5B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489204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users effort to recover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18120" y="2011680"/>
            <a:ext cx="2743200" cy="201168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18120" y="2011680"/>
            <a:ext cx="73152" cy="2011680"/>
          </a:xfrm>
          <a:prstGeom prst="rect">
            <a:avLst/>
          </a:prstGeom>
          <a:solidFill>
            <a:srgbClr val="5BAFE5"/>
          </a:solidFill>
          <a:ln w="12700">
            <a:solidFill>
              <a:srgbClr val="5BAF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21945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AF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29" name="Text 27"/>
          <p:cNvSpPr/>
          <p:nvPr/>
        </p:nvSpPr>
        <p:spPr>
          <a:xfrm>
            <a:off x="800100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0100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for emotional fit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SCREENS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4846320"/>
            <a:ext cx="1920240" cy="640080"/>
          </a:xfrm>
          <a:prstGeom prst="rect">
            <a:avLst/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846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Welcome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971800" y="4846320"/>
            <a:ext cx="1920240" cy="640080"/>
          </a:xfrm>
          <a:prstGeom prst="rect">
            <a:avLst/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71800" y="4846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Daily Check-in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20640" y="4846320"/>
            <a:ext cx="1920240" cy="640080"/>
          </a:xfrm>
          <a:prstGeom prst="rect">
            <a:avLst/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846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Today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69480" y="4846320"/>
            <a:ext cx="1920240" cy="640080"/>
          </a:xfrm>
          <a:prstGeom prst="rect">
            <a:avLst/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4846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Sky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418320" y="4846320"/>
            <a:ext cx="1920240" cy="640080"/>
          </a:xfrm>
          <a:prstGeom prst="rect">
            <a:avLst/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0" y="4846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AI Companion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Iteration Notes  ·  Round 1 → Build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SCREEN 1  ·  WELCOME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the threshold.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1847088"/>
            <a:ext cx="201168" cy="201168"/>
          </a:xfrm>
          <a:prstGeom prst="ellipse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5B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"Begin Your Journey" felt commitment-heavy. Testers paused; the word 'journey' implied a long arc they weren't ready to opt into yet.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CTA to "Begin Becoming." Same action, gentler invite, lighter foot.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4846320" cy="402336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2103120"/>
            <a:ext cx="4297680" cy="3474720"/>
          </a:xfrm>
          <a:prstGeom prst="rect">
            <a:avLst/>
          </a:prstGeom>
          <a:solidFill>
            <a:srgbClr val="0E0B26"/>
          </a:solidFill>
          <a:ln w="12700">
            <a:solidFill>
              <a:srgbClr val="3A2D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55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2606040"/>
            <a:ext cx="4023360" cy="548640"/>
          </a:xfrm>
          <a:prstGeom prst="rect">
            <a:avLst/>
          </a:prstGeom>
          <a:solidFill>
            <a:srgbClr val="2A2058"/>
          </a:solidFill>
          <a:ln w="12700">
            <a:solidFill>
              <a:srgbClr val="9C8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2606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Your Journey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3977640"/>
            <a:ext cx="4023360" cy="548640"/>
          </a:xfrm>
          <a:prstGeom prst="rect">
            <a:avLst/>
          </a:prstGeom>
          <a:solidFill>
            <a:srgbClr val="8B6BD9"/>
          </a:solidFill>
          <a:ln w="12700">
            <a:solidFill>
              <a:srgbClr val="8B6B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Becoming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7804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commitment. Same destination.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Iteration Notes  ·  Round 1 → Build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SCREEN 2  ·  DAILY CHECK-IN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moment legible.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34340" y="1828800"/>
            <a:ext cx="3611880" cy="402336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" y="1828800"/>
            <a:ext cx="73152" cy="4023360"/>
          </a:xfrm>
          <a:prstGeom prst="rect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" y="2121408"/>
            <a:ext cx="201168" cy="201168"/>
          </a:xfrm>
          <a:prstGeom prst="ellipse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5B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instructions easy to miss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" y="32004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countdown number (4 → 3 → 2 → 1) inside the circle, synced live to each phase. The number IS the instruction.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74820" y="1828800"/>
            <a:ext cx="3611880" cy="402336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4820" y="1828800"/>
            <a:ext cx="73152" cy="4023360"/>
          </a:xfrm>
          <a:prstGeom prst="rect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3420" y="2121408"/>
            <a:ext cx="201168" cy="201168"/>
          </a:xfrm>
          <a:prstGeom prst="ellipse">
            <a:avLst/>
          </a:prstGeom>
          <a:solidFill>
            <a:srgbClr val="E5B66B"/>
          </a:solidFill>
          <a:ln w="12700">
            <a:solidFill>
              <a:srgbClr val="E5B6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6028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5B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03420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Couldn't skip breathing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03420" y="32004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"Skip breathing →" link below the guide. Circle animates away, the form slides up.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15300" y="1828800"/>
            <a:ext cx="3611880" cy="402336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15300" y="1828800"/>
            <a:ext cx="73152" cy="4023360"/>
          </a:xfrm>
          <a:prstGeom prst="rect">
            <a:avLst/>
          </a:prstGeom>
          <a:solidFill>
            <a:srgbClr val="5BAFE5"/>
          </a:solidFill>
          <a:ln w="12700">
            <a:solidFill>
              <a:srgbClr val="5BAF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43900" y="2121408"/>
            <a:ext cx="201168" cy="201168"/>
          </a:xfrm>
          <a:prstGeom prst="ellipse">
            <a:avLst/>
          </a:prstGeom>
          <a:solidFill>
            <a:srgbClr val="5BAFE5"/>
          </a:solidFill>
          <a:ln w="12700">
            <a:solidFill>
              <a:srgbClr val="5BAF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36508" y="2057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BA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43900" y="2468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Moods read as clinical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43900" y="320040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6 → 8 moods in a 4×2 grid. Added Drained, Meh / Neutral, Okay-ish to soften the spectrum.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737360" y="4754880"/>
            <a:ext cx="1005840" cy="1005840"/>
          </a:xfrm>
          <a:prstGeom prst="ellipse">
            <a:avLst/>
          </a:prstGeom>
          <a:solidFill>
            <a:srgbClr val="1F1745"/>
          </a:solidFill>
          <a:ln w="19050">
            <a:solidFill>
              <a:srgbClr val="B49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47548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49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32" name="Shape 30"/>
          <p:cNvSpPr/>
          <p:nvPr/>
        </p:nvSpPr>
        <p:spPr>
          <a:xfrm>
            <a:off x="5669280" y="4709160"/>
            <a:ext cx="822960" cy="822960"/>
          </a:xfrm>
          <a:prstGeom prst="ellipse">
            <a:avLst/>
          </a:prstGeom>
          <a:solidFill>
            <a:srgbClr val="1F1745">
              <a:alpha val="70000"/>
            </a:srgbClr>
          </a:solidFill>
          <a:ln w="12700">
            <a:solidFill>
              <a:srgbClr val="B492F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503420" y="5486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breathing 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26196" y="4846320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26196" y="48463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85148" y="4846320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5148" y="48463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944100" y="4846320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44100" y="48463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703052" y="4846320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03052" y="48463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26196" y="5184648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26196" y="51846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Okay-ish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85148" y="5184648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85148" y="51846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944100" y="5184648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44100" y="51846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Grateful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703052" y="5184648"/>
            <a:ext cx="713232" cy="292608"/>
          </a:xfrm>
          <a:prstGeom prst="roundRect">
            <a:avLst>
              <a:gd name="adj" fmla="val 15625"/>
            </a:avLst>
          </a:prstGeom>
          <a:solidFill>
            <a:srgbClr val="2A2058"/>
          </a:solidFill>
          <a:ln w="6350">
            <a:solidFill>
              <a:srgbClr val="3A2D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03052" y="51846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Iteration Notes  ·  Round 1 → Build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16459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972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SCREEN 3  · 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 tense, low friction.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48640" y="1847088"/>
            <a:ext cx="201168" cy="201168"/>
          </a:xfrm>
          <a:prstGeom prst="ellipse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55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5603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"Done Anyway" read as a moral test. Half the testers paused; the word 'anyway' carried a concession the user was paying for.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to "I did it anyway ✦" with a starburst animation that navigates straight to Sky. Past-tense framing — the act is acknowledged, not weighed.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1828800"/>
            <a:ext cx="4846320" cy="420624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40880" y="2103120"/>
            <a:ext cx="4297680" cy="3657600"/>
          </a:xfrm>
          <a:prstGeom prst="rect">
            <a:avLst/>
          </a:prstGeom>
          <a:solidFill>
            <a:srgbClr val="1A1438"/>
          </a:solidFill>
          <a:ln w="12700">
            <a:solidFill>
              <a:srgbClr val="3A2D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377440"/>
            <a:ext cx="3840480" cy="2194560"/>
          </a:xfrm>
          <a:prstGeom prst="rect">
            <a:avLst/>
          </a:prstGeom>
          <a:solidFill>
            <a:srgbClr val="1F1745"/>
          </a:solidFill>
          <a:ln w="12700">
            <a:solidFill>
              <a:srgbClr val="3A2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PROMPT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2834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one small kindness you can let yourself accept today?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78240" y="4069080"/>
            <a:ext cx="2194560" cy="457200"/>
          </a:xfrm>
          <a:prstGeom prst="rect">
            <a:avLst/>
          </a:prstGeom>
          <a:solidFill>
            <a:srgbClr val="8B6BD9"/>
          </a:solidFill>
          <a:ln w="12700">
            <a:solidFill>
              <a:srgbClr val="8B6B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4069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it anyway ✦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95360" y="402336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0" y="45262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18520" y="40233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09960" y="45262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61120" y="40233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4754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→ starburst → Sky.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Iteration Notes  ·  Round 1 → Build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16459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972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21945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4688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2860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0" y="26517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SCREEN 4  ·  SKY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constellations talk.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548640" y="1847088"/>
            <a:ext cx="201168" cy="201168"/>
          </a:xfrm>
          <a:prstGeom prst="ellipse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55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5603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didn't know the Sky was interactive. Stars looked decorative; nobody tapped a constellation without prompting.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Pulsing rings on stars</a:t>
            </a:r>
            <a:pPr indent="0" marL="0">
              <a:buNone/>
            </a:pPr>
            <a:r>
              <a:rPr lang="en-US" sz="14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signal interactivity. </a:t>
            </a:r>
            <a:pPr indent="0" marL="0">
              <a:buNone/>
            </a:pPr>
            <a:r>
              <a:rPr lang="en-US" sz="1400" b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tooltip</a:t>
            </a:r>
            <a:pPr indent="0" marL="0">
              <a:buNone/>
            </a:pPr>
            <a:r>
              <a:rPr lang="en-US" sz="14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pinned to the canvas bottom — "Tap a constellation to explore your actions — each star is a task in your plan." Dismisses on first tap; never shown again.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1828800"/>
            <a:ext cx="4846320" cy="420624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2103120"/>
            <a:ext cx="4297680" cy="3657600"/>
          </a:xfrm>
          <a:prstGeom prst="rect">
            <a:avLst/>
          </a:prstGeom>
          <a:solidFill>
            <a:srgbClr val="08071A"/>
          </a:solidFill>
          <a:ln w="12700">
            <a:solidFill>
              <a:srgbClr val="3A2D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2926080"/>
            <a:ext cx="73152" cy="73152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26517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61120" y="320040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0032" y="2542032"/>
            <a:ext cx="676656" cy="676656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B492FF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528048" y="2670048"/>
            <a:ext cx="420624" cy="420624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2834640"/>
            <a:ext cx="91440" cy="91440"/>
          </a:xfrm>
          <a:prstGeom prst="ellipse">
            <a:avLst/>
          </a:prstGeom>
          <a:solidFill>
            <a:srgbClr val="B492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24160" y="31089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0" y="365760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0" y="393192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18320" y="42062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42976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0" y="4389120"/>
            <a:ext cx="64008" cy="64008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69480" y="5074920"/>
            <a:ext cx="3840480" cy="548640"/>
          </a:xfrm>
          <a:prstGeom prst="rect">
            <a:avLst/>
          </a:prstGeom>
          <a:solidFill>
            <a:srgbClr val="2A2058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9480" y="5074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constellation to explore your actions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Iteration Notes  ·  Round 1 → Build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SCREEN 5  ·  AI COMPANION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Disclose privacy where it matters.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48640" y="1847088"/>
            <a:ext cx="201168" cy="201168"/>
          </a:xfrm>
          <a:prstGeom prst="ellipse">
            <a:avLst/>
          </a:prstGeom>
          <a:solidFill>
            <a:srgbClr val="E55D87"/>
          </a:solidFill>
          <a:ln w="12700">
            <a:solidFill>
              <a:srgbClr val="E55D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55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paused at the chat input. Several said they wouldn't share anything real until they knew where it went. Privacy was buried in onboarding only.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B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label above the chat input: 🔒 "Your reflections are private and never shared." Disclosure where the user is about to act, not where they signed up.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4846320" cy="4206240"/>
          </a:xfrm>
          <a:prstGeom prst="rect">
            <a:avLst/>
          </a:prstGeom>
          <a:solidFill>
            <a:srgbClr val="1F1745"/>
          </a:solidFill>
          <a:ln w="6350">
            <a:solidFill>
              <a:srgbClr val="3A2D6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0" y="2103120"/>
            <a:ext cx="4297680" cy="3657600"/>
          </a:xfrm>
          <a:prstGeom prst="rect">
            <a:avLst/>
          </a:prstGeom>
          <a:solidFill>
            <a:srgbClr val="1A1438"/>
          </a:solidFill>
          <a:ln w="12700">
            <a:solidFill>
              <a:srgbClr val="3A2D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2377440"/>
            <a:ext cx="2743200" cy="457200"/>
          </a:xfrm>
          <a:prstGeom prst="rect">
            <a:avLst/>
          </a:prstGeom>
          <a:solidFill>
            <a:srgbClr val="F2EEFB"/>
          </a:solidFill>
          <a:ln w="12700">
            <a:solidFill>
              <a:srgbClr val="3A2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2377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2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— How are you?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0" y="2926080"/>
            <a:ext cx="2468880" cy="457200"/>
          </a:xfrm>
          <a:prstGeom prst="rect">
            <a:avLst/>
          </a:prstGeom>
          <a:solidFill>
            <a:srgbClr val="EAF1F8"/>
          </a:solidFill>
          <a:ln w="12700">
            <a:solidFill>
              <a:srgbClr val="3A2D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B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heavy morning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69480" y="4572000"/>
            <a:ext cx="3840480" cy="411480"/>
          </a:xfrm>
          <a:prstGeom prst="rect">
            <a:avLst/>
          </a:prstGeom>
          <a:solidFill>
            <a:srgbClr val="2A2058"/>
          </a:solidFill>
          <a:ln w="12700">
            <a:solidFill>
              <a:srgbClr val="B49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69480" y="4572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</a:t>
            </a:r>
            <a:pPr algn="ctr" indent="0" marL="0">
              <a:buNone/>
            </a:pPr>
            <a:r>
              <a:rPr lang="en-US" sz="1000" i="1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reflections are private and never shared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69480" y="5074920"/>
            <a:ext cx="3840480" cy="502920"/>
          </a:xfrm>
          <a:prstGeom prst="rect">
            <a:avLst/>
          </a:prstGeom>
          <a:solidFill>
            <a:srgbClr val="0E0B26"/>
          </a:solidFill>
          <a:ln w="12700">
            <a:solidFill>
              <a:srgbClr val="9C8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5074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message…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Iteration Notes  ·  Round 1 → Build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6576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64008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5720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0" y="9144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0" y="54864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128016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0" y="146304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18872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0" y="164592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95760" y="109728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0" y="21945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468880"/>
            <a:ext cx="36576" cy="36576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0" y="2286000"/>
            <a:ext cx="45720" cy="45720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0" y="2651760"/>
            <a:ext cx="54864" cy="54864"/>
          </a:xfrm>
          <a:prstGeom prst="ellipse">
            <a:avLst/>
          </a:prstGeom>
          <a:solidFill>
            <a:srgbClr val="D9C8FF"/>
          </a:solidFill>
          <a:ln w="12700">
            <a:solidFill>
              <a:srgbClr val="D9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SHIPPED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1E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seven, in build.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411480" y="1920240"/>
            <a:ext cx="292608" cy="292608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1828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Welcome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2029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"Begin Becoming" replaces "Begin Your Journey"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2606040"/>
            <a:ext cx="292608" cy="292608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2514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Daily Check-in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2715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number (4 → 3 → 2 → 1) inside the breathing circle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3291840"/>
            <a:ext cx="292608" cy="292608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3200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Daily Check-in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" y="3401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"Skip breathing →" link below the guide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3977640"/>
            <a:ext cx="292608" cy="292608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3886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Daily Check-in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4087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moods in a 4×2 grid: Drained, Heavy, Anxious, Meh, Okay-ish, Good, Grateful, +1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1920240"/>
            <a:ext cx="292608" cy="292608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75120" y="1828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Today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2029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did it anyway ✦" button — past-tense, navigates to Sky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63640" y="2606040"/>
            <a:ext cx="292608" cy="292608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75120" y="2514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Sky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75120" y="27157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Pulsing rings on stars to signal interactivity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63640" y="3291840"/>
            <a:ext cx="292608" cy="292608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75120" y="3200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Sky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3401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First-visit tooltip: "Tap a constellation to explore your actions"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63640" y="3977640"/>
            <a:ext cx="292608" cy="292608"/>
          </a:xfrm>
          <a:prstGeom prst="ellipse">
            <a:avLst/>
          </a:prstGeom>
          <a:solidFill>
            <a:srgbClr val="6BD9A8"/>
          </a:solidFill>
          <a:ln w="12700">
            <a:solidFill>
              <a:srgbClr val="6BD9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75120" y="38862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AI Companion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75120" y="4087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"Your reflections are private and never shared" above the chat input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5532120"/>
            <a:ext cx="11064240" cy="594360"/>
          </a:xfrm>
          <a:prstGeom prst="rect">
            <a:avLst/>
          </a:prstGeom>
          <a:solidFill>
            <a:srgbClr val="2A2058"/>
          </a:solidFill>
          <a:ln w="12700">
            <a:solidFill>
              <a:srgbClr val="2A20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49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300" dirty="0">
                <a:solidFill>
                  <a:srgbClr val="F1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re-test on the four worst-performing tasks; clinical reviewer probes the safety guardrail.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Becoming  ·  Iteration Notes  ·  Round 1 → Build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784080" y="6492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8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Becoming — Iteration Notes</dc:title>
  <dc:subject>PptxGenJS Presentation</dc:subject>
  <dc:creator>Becoming UX</dc:creator>
  <cp:lastModifiedBy>Becoming UX</cp:lastModifiedBy>
  <cp:revision>1</cp:revision>
  <dcterms:created xsi:type="dcterms:W3CDTF">2026-05-04T03:16:11Z</dcterms:created>
  <dcterms:modified xsi:type="dcterms:W3CDTF">2026-05-04T03:16:11Z</dcterms:modified>
</cp:coreProperties>
</file>